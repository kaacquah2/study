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914400"/>
            <a:ext cx="630936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🏛️ KNUST DEPARTMENT OF COMPUTER SCIENCE • FINAL YEAR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8FAFC"/>
                </a:solidFill>
                <a:latin typeface="Trebuchet MS"/>
              </a:defRPr>
            </a:pPr>
            <a:r>
              <a:t>Study AI</a:t>
            </a:r>
          </a:p>
          <a:p>
            <a:pPr algn="ctr">
              <a:spcBef>
                <a:spcPts val="800"/>
              </a:spcBef>
              <a:defRPr sz="2000">
                <a:solidFill>
                  <a:srgbClr val="BAE6FD"/>
                </a:solidFill>
                <a:latin typeface="Calibri"/>
              </a:defRPr>
            </a:pPr>
            <a:r>
              <a:t>An Adaptive AI-Powered Learning System Engineered Around an</a:t>
            </a:r>
            <a:br/>
            <a:r>
              <a:t>Authoritative Multi-Signal Learning Intelligence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9445752" cy="219456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PROJECT AUTHORS (GROUP 13)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Ahado Ronald Ofoe (Index: 3366322)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Yoofi Ashon (Index: 3377222)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SUPERVISOR &amp; DEPARTMENT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Dr. Rosemary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Department of Computer Science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KNUST, Kumasi, Ghana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ACADEMIC CONTEXT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B.Sc. Computer Science Defense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Final Year Thesis Project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Academic Session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What is Study AI? The App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5912" cy="109728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  <a:latin typeface="Calibri"/>
              </a:defRPr>
            </a:pPr>
            <a:r>
              <a:t>Study AI is an adaptive, student-centered learning platform that combines generative AI, vector retrieval, spaced repetition, and cognitive mistake tracking into one unified, closed-loop educational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3383280" cy="32918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9728" cy="3291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30175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1. Grounded Learning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Study Materials Ingestion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Uploads student course PDFs &amp; notes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Chunked &amp; embedded into FAISS vector store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AI answers cite exact slide &amp; page numbers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Strict domain guardrails against hallucination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63240"/>
            <a:ext cx="3383280" cy="32918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3063240"/>
            <a:ext cx="109728" cy="3291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30175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2. Continuous Analytics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Learning Intelligence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Logs every quiz outcome &amp; card review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Authoritative server-side event stream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Aggregated learner profile across topics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Heuristic mastery calculation (4 signals)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063240"/>
            <a:ext cx="3383280" cy="32918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3063240"/>
            <a:ext cx="109728" cy="3291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246120"/>
            <a:ext cx="30175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3. Adaptive Closure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Closing Knowledge Gaps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Automatic misconception capture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Targeted Mistake Notebook error drills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FSRS-4.5 Spaced Repetition scheduling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ELK.js interactive visual Knowledge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Why This App? The Paradox of Modern 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45720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017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The 'Illusion of Competence'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Passive Skimming Trap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ChatGPT &amp; Gemini provide instant, fluent answers to any prompt.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Students passively read answers without mental retrieval or cognitive struggle.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Ebbinghaus forgetting curve sets in rapidly; students fail exam recall.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Generative models sound convincing even when fabricating erroneous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109728" cy="4572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017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Disconnected Tool Silos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Fragmented Utilities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Quiz apps, flashcard makers, and note tools exist as separate islands.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Quiz errors never automatically generate spaced flashcards.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Reading history has zero link to active recall test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No platform maintains a unified model of the student's mastery.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109728" cy="4572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017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The Core Missing Question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Zero Guidance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Generic AI chats cannot answer: 'What should I study next, and why?'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Existing LMS platforms show arbitrary progress percentages (e.g. '75% complete').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Reading 10 slides is weighted the same as answering hard test questions.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Students waste time re-reading material they already know.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What Makes Study AI Different? The 4 Core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2194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1. Closed-Loop Adaptation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Mistakes Drive Curriculum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Generic Chatbots: One-off stateless Q&amp;A with zero recall memory.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Study AI: Every missed quiz question flows directly into the Mistake Notebook and schedules an urgent FSRS review drill until mastered.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09728" cy="2194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2. Defensible Mathematical Mastery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100% Explainable Progress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Generic Platforms: Opaque black-box percentages or uncalibrated neural guesses.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Study AI: Transparent 4-signal formula (Quiz 45% + FSRS 35% + Recency 15% + Read 5%) paired with empirical sample-count confidence ratings.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19456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109728" cy="21945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3. Verifiable Citation Provenance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Grounded in Student Notes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Generic Chatbots: Hallucinates definitions with ungrounded confidence.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Study AI: Isolated FAISS vector search tags responses with explicit source support badges (e.g., '📘 Strong source support — Chapter 3, Page 12').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60520"/>
            <a:ext cx="5212080" cy="219456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160520"/>
            <a:ext cx="109728" cy="2194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434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4. Hybrid Multi-Tier AI Architecture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Resilience &amp; Sovereignty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Cloud-Only Tools: Subject to API rate limits, costs, and data privacy leaks.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Study AI: Blends Google Gemini 2.5 Flash on Cloud TPUs with a self-hosted Python FastAPI backend for offline continuity and vector privacy.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CORE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The Learning Intelligence Engine &amp; Decision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8404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4572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4747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Event-Driven Architecture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Authoritative Telemetry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Every interaction emits an immutable LearningEvent record to Firestore.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Two-Tier Data Strategy: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Tier 1 (Raw Events): Chronological audit trail of all actions.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Tier 2 (Aggregated Profile): Fast running tallies of weak areas, streaks, and concept mastery.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Eliminates expensive full-collection database scans during dashboard 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737360"/>
            <a:ext cx="65836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737360"/>
            <a:ext cx="109728" cy="4572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6217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Deterministic Next-Action Adaptation Matrix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Rule-Based Student Direction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Priority 1 (Critical): Due FSRS Flashcards &gt; 0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➜ Action: Directs student to immediate spaced review before memory decays.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Priority 2 (High): Unresolved Mistakes ≥ 3 on Concept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➜ Action: Routes to Mistake Notebook for targeted misconception drilling.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Priority 3 (Medium): Concept Mastery &lt; 50%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➜ Action: Generates targeted practice drill specifically on weak subtopic.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Priority 4 (Normal): Prerequisite Concepts ≥ 80%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➜ Action: Unlocks next sequential chapter in course curriculum 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CORE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Defensible Heuristic Mastery: Transparent &amp; Calibrated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5912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EF08A"/>
                </a:solidFill>
                <a:latin typeface="Trebuchet MS"/>
              </a:defRPr>
            </a:pPr>
            <a:r>
              <a:t>Mastery Score = (0.45 × A_quiz) + (0.35 × P_FSRS) + (0.15 × S_recency) + (0.05 × C_lesson)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468880" cy="3474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9728" cy="3474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45% Quiz Accuracy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Weight 1: Testing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Active recall under test conditions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Strongest empirical proof of comprehension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Penalizes repeated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26080"/>
            <a:ext cx="2468880" cy="3474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926080"/>
            <a:ext cx="109728" cy="3474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310896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35% FSRS Retention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Weight 2: Memory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Free Spaced Repetition Scheduler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Memory stability &amp; difficulty ratings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Models retention 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2468880" cy="3474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109728" cy="3474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15% Practice Recency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Weight 3: Decay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Ebbinghaus forgetting curve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Penalizes dormant topics left unreviewed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Encourages routine reinforcement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926080"/>
            <a:ext cx="2468880" cy="3474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2926080"/>
            <a:ext cx="109728" cy="3474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108960"/>
            <a:ext cx="21031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5% Lesson Read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Weight 4: Reading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Passive consumption metric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Reading alone does not equal mastery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Intentionally low weighting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CORE 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Study Library &amp; Grounded RAG with Citation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4572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Document Ingestion &amp; FAISS Indexing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Private Knowledge Pipeline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Students upload PDF lecture slides, textbooks, and class notes.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PyPDF text extraction with semantic chunking (500 tokens with 50-token overlap).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Dense vector representations generated via sentence-transformers (all-MiniLM-L6-v2).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Indexed into FAISS IndexFlatL2 with metadata mappings.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Sub-50 millisecond dense retrieval without cloud roundtrips.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09728" cy="4572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Verifiable Citation Badges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Combating Hallucinations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Distinguishes between verified course material and general knowledge.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Tags verified responses with explicit metadata: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'📘 Strong source support — Chapter 3: Subnetting (Page 12)'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Multi-Tenant Privacy &amp; Candidate Crowding Fix: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Implemented native FAISS ID-prefiltering (IDSelectorBatch) to guarantee User A's notes never bleed into User B's search.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Direct clickable jump to source notes in reader.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CORE 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Mistake Notebook: Turning Failure into Mastery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45720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017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Automated Error Capture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Active Misconception Logging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Whenever a student answers an assessment question incorrectly, the system automatically logs: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Exact question prompt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Student's chosen wrong option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Correct option &amp; explanation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Identified underlying misconception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Zero manual copy-pasting required from the student.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109728" cy="4572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017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Targeted Error Drills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Deliberate Practice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Dedicated Error Practice Mode (/app/mistakes).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Filters errors by topic, course, or error frequency.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Presents dynamic re-phrased variations of previously missed concepts to prevent superficial answer memorization.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Immediate explanatory feedback after each drill attempt.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109728" cy="4572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017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Resolution Tracking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Proving Concept Resolution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An error is marked as 'Resolved' only after 2 consecutive correct answers under spaced conditions.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Directly feeds back into Heuristic Mastery Score calculation.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Rated the #1 highest-scoring feature in student user study (4.68 / 5.0).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Builds genuine metacognitive awareness of personal weak spots.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CORE FEATURE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Interactive Knowledge Map &amp; Progress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4572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Visual Concept Graph (ELK.js)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Prerequisite Mapping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Interactive directed acyclic graph (DAG) of the curriculum.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Renders prerequisite relationships between topics (e.g. IP Addressing ➜ Subnetting ➜ CIDR).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Dynamic node color status: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🟢 Mastered (Score ≥ 80%)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🟡 Learning (Score 50% – 79%)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🔴 Needs Review (Score &lt; 50% or unaddressed errors)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Interactive pan, zoom, and node inspector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09728" cy="4572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'Explain My Progress' Inspector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Diagnostic Transparency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Replaces opaque, mysterious grades with plain-English diagnostics: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'Your mastery in Subnetting is 44% because you missed 2 questions in the last quiz and have 3 pending due flashcards.'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Provides immediate 1-click action buttons: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[Practice 3 Errors in Mistake Notebook]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[Review 4 Due Flashcards]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[Re-read Module Lesson]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Rated 4.50 / 5.0 in user clarity ratings.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CORE FEATURE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FSRS-4.5 Spaced Repetition Engine &amp; Offline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4572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FSRS-4.5 vs. Legacy SM-2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Modern Memory Science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SuperMemo-2 (SM-2, 1987) uses rigid multipliers that over-review easy cards and under-review hard cards.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Free Spaced Repetition Scheduler (FSRS-4.5) is a modern DSR model: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Difficulty (D): How inherently hard the concept is.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Stability (S): Days until memory retrievability drops from 100% to 90%.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• Retrievability (R): Current recall probability.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Reduces total study reviews by 20%–30% while guaranteeing target retention.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09728" cy="4572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Offline IndexedDB Synchronization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Seamless Offline Resilience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Designed for campus environments with intermittent Wi-Fi.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Flashcard review sessions run 100% locally in browser memory.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Completed card reviews and FSRS state calculations are queued in IndexedDB via offlineSync.ts.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Automatic background replay dispatches pending events to Firestore once network connectivity is restored.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Zero study disruption or data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TECHNICAL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Architecture Highlights &amp; Multi-Tier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4572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Full-Stack Architecture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Clean Modular Separation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Frontend: SvelteKit v2.63 + Svelte 5 Runes for fine-grained reactive state without virtual DOM overhead.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Styling: Tailwind CSS v4 responsive across 7 laptop viewports.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BFF &amp; Distributed Cache: Netlify Serverless Functions + Upstash Redis REST caching (&lt; 0.1ms outline cache hits).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Primary Cloud AI: Google Gemini 2.5 Flash on Cloud TPUs.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Local ML Microservice: Python FastAPI with PyTorch INT8 CPU models (FLAN-T5, TinyLlama) + FAISS.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09728" cy="4572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Empirical Latency Benchmarks (N=10)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Empirically Measured Speeds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Course Outline Generation: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• Cloud (Gemini): 1.79s ± 0.23s | Local: 12.69s | Cache: &lt; 0.1ms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3-Page Lesson Generation: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• Cloud (Gemini): 2.42s ± 0.45s | Local: 22.68s | Cache: &lt; 0.1ms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5-MCQ Quiz Generation: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   • Cloud (Gemini): 1.54s ± 0.15s | Local: 8.55s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FAISS Dense Vector Retrieval: 34ms – 40ms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AI Tutor Time-to-First-Token (TTFT): 316ms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Peak ML RAM: 2.42 GB (strictly within 2.5 GB container cap).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3774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● 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User Study Results: Certified Grade A+ Usability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725912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1188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  <a:latin typeface="Trebuchet MS"/>
              </a:defRPr>
            </a:pPr>
            <a:r>
              <a:t>84.50</a:t>
            </a:r>
          </a:p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MEAN SUS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514600" cy="1188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Grade A+</a:t>
            </a:r>
          </a:p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USABILITY GRADE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514600" cy="1188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B6D4"/>
                </a:solidFill>
                <a:latin typeface="Trebuchet MS"/>
              </a:defRPr>
            </a:pPr>
            <a:r>
              <a:t>0.946</a:t>
            </a:r>
          </a:p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CRONBACH'S ALPHA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514600" cy="118872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8B5CF6"/>
                </a:solidFill>
                <a:latin typeface="Trebuchet MS"/>
              </a:defRPr>
            </a:pPr>
            <a:r>
              <a:t>4.51 / 5</a:t>
            </a:r>
          </a:p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QUIZ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212080" cy="32004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9728" cy="3200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Standardized User Study (N = 15)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Cohort &amp; Methodology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15 undergraduate Computer Science and Engineering students.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Completed 6 standardized core study tasks (upload, lesson study, quiz, error resolution, knowledge map, and AI tutoring).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Evaluated on John Brooke's 10-item System Usability Scale (SUS).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Mean SUS: 84.50 ± 12.72 (95% CI: [78.06, 90.94]).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5212080" cy="32004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154680"/>
            <a:ext cx="109728" cy="3200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Qualitative Feature Ratings (1–5 Likert)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Feature Approval Ratings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Mistake Notebook Error Practice: 4.68 ± 0.19 (Highest)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AI Study Tutor Citations &amp; Grounded Trust: 4.52 ± 0.29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Knowledge Map Gap Clarity: 4.50 ± 0.24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Next-Action Recommendation Accuracy: 4.37 ± 0.26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100% of participants preferred Study AI over standard generic 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39319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🎓 FINAL YEAR PROJECT DEFENSE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Thank You, Examiners &amp; Faculty Panel</a:t>
            </a:r>
          </a:p>
          <a:p>
            <a:pPr algn="ctr">
              <a:spcBef>
                <a:spcPts val="600"/>
              </a:spcBef>
              <a:defRPr sz="1700">
                <a:solidFill>
                  <a:srgbClr val="BAE6FD"/>
                </a:solidFill>
                <a:latin typeface="Calibri"/>
              </a:defRPr>
            </a:pPr>
            <a:r>
              <a:t>Study AI transforms generative AI from a passive answer generator into an</a:t>
            </a:r>
            <a:br/>
            <a:r>
              <a:t>authoritative, adaptive, and defensible educational partner.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383280" cy="23774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9728" cy="2377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1. Pedagogical Rigor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Durable Memory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Closed-loop adaptation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Mistake notebook error banking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FSRS-4.5 spaced repetition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383280" cy="23774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926080"/>
            <a:ext cx="109728" cy="23774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089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2. Architectural Strength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Resilient Full-Stack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Multi-tier cloud &amp; local inference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Upstash Redis caching (&lt;0.1ms)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Grounded RAG with FAISS pre-filtering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26080"/>
            <a:ext cx="3383280" cy="23774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109728" cy="2377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10896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8FAFC"/>
                </a:solidFill>
                <a:latin typeface="Trebuchet MS"/>
              </a:defRPr>
            </a:pPr>
            <a:r>
              <a:t>3. Empirical Validation</a:t>
            </a:r>
          </a:p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Academically Defensible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SUS Score 84.50 (Grade A+)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Cronbach's alpha 0.946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Quiz Quality 4.51 / 5.0 (92% high)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5912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The floor is now open for Examiners' Questions &amp; Technical Defense.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Ahado Ronald Ofoe (Index: 3366322) &amp; Yoofi Ashon (Index: 3377222) • Supervisor: Dr. Rosemary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